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Nazava Analytics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AI-Powered E-Commerce Intelligence for Shopee Sellers</a:t>
            </a:r>
          </a:p>
          <a:p/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Challenge:</a:t>
            </a:r>
          </a:p>
          <a:p>
            <a:pPr>
              <a:defRPr sz="1800"/>
            </a:pPr>
            <a:r>
              <a:t>  • Shopee sellers struggle with data-driven decision making</a:t>
            </a:r>
          </a:p>
          <a:p>
            <a:pPr>
              <a:defRPr sz="1800"/>
            </a:pPr>
            <a:r>
              <a:t>  • Multiple disconnected data sources</a:t>
            </a:r>
          </a:p>
          <a:p>
            <a:pPr>
              <a:defRPr sz="1800"/>
            </a:pPr>
            <a:r>
              <a:t>  • No unified analytics platform</a:t>
            </a:r>
          </a:p>
          <a:p>
            <a:pPr>
              <a:defRPr sz="1800"/>
            </a:pPr>
            <a:r>
              <a:t>  • Difficulty forecasting sales and optimizing spend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Impact:</a:t>
            </a:r>
          </a:p>
          <a:p>
            <a:pPr>
              <a:defRPr sz="1800"/>
            </a:pPr>
            <a:r>
              <a:t>  • Lost revenue opportunities</a:t>
            </a:r>
          </a:p>
          <a:p>
            <a:pPr>
              <a:defRPr sz="1800"/>
            </a:pPr>
            <a:r>
              <a:t>  • Inefficient marketing spend</a:t>
            </a:r>
          </a:p>
          <a:p>
            <a:pPr>
              <a:defRPr sz="1800"/>
            </a:pPr>
            <a:r>
              <a:t>  • Poor inventory planning</a:t>
            </a:r>
          </a:p>
          <a:p>
            <a:pPr>
              <a:defRPr sz="1800"/>
            </a:pPr>
            <a:r>
              <a:t>  • Reactive vs. proactive decisions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Solution: Three-Pillar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1. Data Pipeline</a:t>
            </a:r>
          </a:p>
          <a:p>
            <a:pPr>
              <a:defRPr sz="1800"/>
            </a:pPr>
            <a:r>
              <a:t>   • Clean, process, and aggregate multi-source data</a:t>
            </a:r>
          </a:p>
          <a:p>
            <a:pPr>
              <a:defRPr sz="1800"/>
            </a:pPr>
            <a:r>
              <a:t>   • 58 weeks of comprehensive e-commerce data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2. AI Models</a:t>
            </a:r>
          </a:p>
          <a:p>
            <a:pPr>
              <a:defRPr sz="1800"/>
            </a:pPr>
            <a:r>
              <a:t>   • Sales forecasting (89.18% accuracy)</a:t>
            </a:r>
          </a:p>
          <a:p>
            <a:pPr>
              <a:defRPr sz="1800"/>
            </a:pPr>
            <a:r>
              <a:t>   • Adaptive learning system</a:t>
            </a:r>
          </a:p>
          <a:p>
            <a:pPr>
              <a:defRPr sz="1800"/>
            </a:pPr>
            <a:r>
              <a:t>   • Spend optimization engine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3. Interactive Dashboard</a:t>
            </a:r>
          </a:p>
          <a:p>
            <a:pPr>
              <a:defRPr sz="1800"/>
            </a:pPr>
            <a:r>
              <a:t>   • 17 pages of real-time insights</a:t>
            </a:r>
          </a:p>
          <a:p>
            <a:pPr>
              <a:defRPr sz="1800"/>
            </a:pPr>
            <a:r>
              <a:t>   • Production-ready deployment</a:t>
            </a:r>
          </a:p>
          <a:p>
            <a:pPr>
              <a:defRPr sz="1800"/>
            </a:pPr>
            <a:r>
              <a:t>   • User-friendly interface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Pipeline: 58 Weeks of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Data Sources:</a:t>
            </a:r>
          </a:p>
          <a:p>
            <a:pPr>
              <a:defRPr sz="1800"/>
            </a:pPr>
            <a:r>
              <a:t>  • Traffic Overview: 1.75M visitors, 730 records</a:t>
            </a:r>
          </a:p>
          <a:p>
            <a:pPr>
              <a:defRPr sz="1800"/>
            </a:pPr>
            <a:r>
              <a:t>  • Product Performance: 8K records</a:t>
            </a:r>
          </a:p>
          <a:p>
            <a:pPr>
              <a:defRPr sz="1800"/>
            </a:pPr>
            <a:r>
              <a:t>  • Revenue &amp; Sales: IDR 1.73B total</a:t>
            </a:r>
          </a:p>
          <a:p>
            <a:pPr>
              <a:defRPr sz="1800"/>
            </a:pPr>
            <a:r>
              <a:t>  • Campaign Data: Flash Sales, Vouchers, Live, Games</a:t>
            </a:r>
          </a:p>
          <a:p>
            <a:pPr>
              <a:defRPr sz="1800"/>
            </a:pPr>
            <a:r>
              <a:t>  • Customer Service: Chat, CSAT metrics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Processing:</a:t>
            </a:r>
          </a:p>
          <a:p>
            <a:pPr>
              <a:defRPr sz="1800"/>
            </a:pPr>
            <a:r>
              <a:t>  • Automated cleaning and validation</a:t>
            </a:r>
          </a:p>
          <a:p>
            <a:pPr>
              <a:defRPr sz="1800"/>
            </a:pPr>
            <a:r>
              <a:t>  • Weekly aggregation for forecasting</a:t>
            </a:r>
          </a:p>
          <a:p>
            <a:pPr>
              <a:defRPr sz="1800"/>
            </a:pPr>
            <a:r>
              <a:t>  • 25+ engineered features</a:t>
            </a:r>
          </a:p>
          <a:p>
            <a:pPr>
              <a:defRPr sz="1800"/>
            </a:pPr>
            <a:r>
              <a:t>  • Quality checks and error handling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Insights: Traffic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Traffic Metrics:</a:t>
            </a:r>
          </a:p>
          <a:p>
            <a:pPr>
              <a:defRPr sz="1800"/>
            </a:pPr>
            <a:r>
              <a:t>  • Total Visitors: 1,749,117</a:t>
            </a:r>
          </a:p>
          <a:p>
            <a:pPr>
              <a:defRPr sz="1800"/>
            </a:pPr>
            <a:r>
              <a:t>  • New Visitors: 1,410,073</a:t>
            </a:r>
          </a:p>
          <a:p>
            <a:pPr>
              <a:defRPr sz="1800"/>
            </a:pPr>
            <a:r>
              <a:t>  • Returning Visitors: 339,044</a:t>
            </a:r>
          </a:p>
          <a:p>
            <a:pPr>
              <a:defRPr sz="1800"/>
            </a:pPr>
            <a:r>
              <a:t>  • New vs Returning Ratio: 4.16:1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Engagement:</a:t>
            </a:r>
          </a:p>
          <a:p>
            <a:pPr>
              <a:defRPr sz="1800"/>
            </a:pPr>
            <a:r>
              <a:t>  • Average Time Spent: 1.25 minutes</a:t>
            </a:r>
          </a:p>
          <a:p>
            <a:pPr>
              <a:defRPr sz="1800"/>
            </a:pPr>
            <a:r>
              <a:t>  • Total Products Viewed: 5.7M</a:t>
            </a:r>
          </a:p>
          <a:p>
            <a:pPr>
              <a:defRPr sz="1800"/>
            </a:pPr>
            <a:r>
              <a:t>  • Avg Products per Visit: 3.28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Insight: Strong new customer acquisition, opportunity to improve retention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Insights: Sales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Revenue Metrics (58 weeks):</a:t>
            </a:r>
          </a:p>
          <a:p>
            <a:pPr>
              <a:defRPr sz="1800"/>
            </a:pPr>
            <a:r>
              <a:t>  • Total Sales: IDR 1.73 Billion</a:t>
            </a:r>
          </a:p>
          <a:p>
            <a:pPr>
              <a:defRPr sz="1800"/>
            </a:pPr>
            <a:r>
              <a:t>  • Average Weekly: IDR 29.87M</a:t>
            </a:r>
          </a:p>
          <a:p>
            <a:pPr>
              <a:defRPr sz="1800"/>
            </a:pPr>
            <a:r>
              <a:t>  • Peak Week: IDR 67.87M</a:t>
            </a:r>
          </a:p>
          <a:p>
            <a:pPr>
              <a:defRPr sz="1800"/>
            </a:pPr>
            <a:r>
              <a:t>  • Growth: +47.5% (first half vs second half)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Customer Metrics:</a:t>
            </a:r>
          </a:p>
          <a:p>
            <a:pPr>
              <a:defRPr sz="1800"/>
            </a:pPr>
            <a:r>
              <a:t>  • Total Buyers: 12,350</a:t>
            </a:r>
          </a:p>
          <a:p>
            <a:pPr>
              <a:defRPr sz="1800"/>
            </a:pPr>
            <a:r>
              <a:t>  • Total Products Sold: 32,648</a:t>
            </a:r>
          </a:p>
          <a:p>
            <a:pPr>
              <a:defRPr sz="1800"/>
            </a:pPr>
            <a:r>
              <a:t>  • Sales per Buyer: IDR 140,276</a:t>
            </a:r>
          </a:p>
          <a:p>
            <a:pPr>
              <a:defRPr sz="1800"/>
            </a:pPr>
            <a:r>
              <a:t>  • Sales per Product: IDR 53,063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Strong growth trajectory with healthy unit economics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Insights: Campaign ROI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Flash Sales:</a:t>
            </a:r>
          </a:p>
          <a:p>
            <a:pPr>
              <a:defRPr sz="1800"/>
            </a:pPr>
            <a:r>
              <a:t>  • Revenue: IDR 233M</a:t>
            </a:r>
          </a:p>
          <a:p>
            <a:pPr>
              <a:defRPr sz="1800"/>
            </a:pPr>
            <a:r>
              <a:t>  • Orders: 1,138</a:t>
            </a:r>
          </a:p>
          <a:p>
            <a:pPr>
              <a:defRPr sz="1800"/>
            </a:pPr>
            <a:r>
              <a:t>  • ROI: 5.2x ⭐ Best performer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Vouchers:</a:t>
            </a:r>
          </a:p>
          <a:p>
            <a:pPr>
              <a:defRPr sz="1800"/>
            </a:pPr>
            <a:r>
              <a:t>  • Cost: IDR 123M</a:t>
            </a:r>
          </a:p>
          <a:p>
            <a:pPr>
              <a:defRPr sz="1800"/>
            </a:pPr>
            <a:r>
              <a:t>  • Orders: 1,170</a:t>
            </a:r>
          </a:p>
          <a:p>
            <a:pPr>
              <a:defRPr sz="1800"/>
            </a:pPr>
            <a:r>
              <a:t>  • ROI: 4.5x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Live Streams:</a:t>
            </a:r>
          </a:p>
          <a:p>
            <a:pPr>
              <a:defRPr sz="1800"/>
            </a:pPr>
            <a:r>
              <a:t>  • ROI: 3.8x</a:t>
            </a:r>
          </a:p>
          <a:p>
            <a:pPr>
              <a:defRPr sz="1800"/>
            </a:pPr>
            <a:r>
              <a:t>  • High engagement potential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Recommendation: Prioritize flash sales for maximum ROI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Model #1: Sales Forecasting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XGBoost Forecasting Model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Performance:</a:t>
            </a:r>
          </a:p>
          <a:p>
            <a:pPr>
              <a:defRPr sz="1800"/>
            </a:pPr>
            <a:r>
              <a:t>  ✅ 89.18% Accuracy on test set</a:t>
            </a:r>
          </a:p>
          <a:p>
            <a:pPr>
              <a:defRPr sz="1800"/>
            </a:pPr>
            <a:r>
              <a:t>  • MAPE: 10.82%</a:t>
            </a:r>
          </a:p>
          <a:p>
            <a:pPr>
              <a:defRPr sz="1800"/>
            </a:pPr>
            <a:r>
              <a:t>  • R²: 0.9742</a:t>
            </a:r>
          </a:p>
          <a:p>
            <a:pPr>
              <a:defRPr sz="1800"/>
            </a:pPr>
            <a:r>
              <a:t>  • 75% predictions within 20% error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Features (25+):</a:t>
            </a:r>
          </a:p>
          <a:p>
            <a:pPr>
              <a:defRPr sz="1800"/>
            </a:pPr>
            <a:r>
              <a:t>  • Time-based: Week, month, quarter, seasonality</a:t>
            </a:r>
          </a:p>
          <a:p>
            <a:pPr>
              <a:defRPr sz="1800"/>
            </a:pPr>
            <a:r>
              <a:t>  • Sales patterns: Lags, rolling averages, trends</a:t>
            </a:r>
          </a:p>
          <a:p>
            <a:pPr>
              <a:defRPr sz="1800"/>
            </a:pPr>
            <a:r>
              <a:t>  • Marketing: Ad spend, promotions, vouchers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Validation: 80/20 split, 5-fold cross-validation, no overfitting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6-Month Sales Forecast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Predictions (Dec 2025 - Jun 2026):</a:t>
            </a:r>
          </a:p>
          <a:p>
            <a:pPr>
              <a:defRPr sz="1800"/>
            </a:pPr>
            <a:r>
              <a:t>  • Total Forecast: IDR 0.83 Billion</a:t>
            </a:r>
          </a:p>
          <a:p>
            <a:pPr>
              <a:defRPr sz="1800"/>
            </a:pPr>
            <a:r>
              <a:t>  • Average Weekly: IDR 31.82M</a:t>
            </a:r>
          </a:p>
          <a:p>
            <a:pPr>
              <a:defRPr sz="1800"/>
            </a:pPr>
            <a:r>
              <a:t>  • Range: IDR 31.65M - 32.39M</a:t>
            </a:r>
          </a:p>
          <a:p>
            <a:pPr>
              <a:defRPr sz="1800"/>
            </a:pPr>
            <a:r>
              <a:t>  • Confidence: 89.18% accuracy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Business Value:</a:t>
            </a:r>
          </a:p>
          <a:p>
            <a:pPr>
              <a:defRPr sz="1800"/>
            </a:pPr>
            <a:r>
              <a:t>  ✅ Inventory planning</a:t>
            </a:r>
          </a:p>
          <a:p>
            <a:pPr>
              <a:defRPr sz="1800"/>
            </a:pPr>
            <a:r>
              <a:t>  ✅ Cash flow management</a:t>
            </a:r>
          </a:p>
          <a:p>
            <a:pPr>
              <a:defRPr sz="1800"/>
            </a:pPr>
            <a:r>
              <a:t>  ✅ Staffing optimization</a:t>
            </a:r>
          </a:p>
          <a:p>
            <a:pPr>
              <a:defRPr sz="1800"/>
            </a:pPr>
            <a:r>
              <a:t>  ✅ Marketing budget allocation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40% improvement over baseline forecasting methods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Drives Sales?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Top 10 Features by Importance: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  1. Products Sold (37.14%) - Inventory breadth</a:t>
            </a:r>
          </a:p>
          <a:p>
            <a:pPr>
              <a:defRPr sz="1800"/>
            </a:pPr>
            <a:r>
              <a:t>  2. Total Buyers (31.25%) - Customer acquisition</a:t>
            </a:r>
          </a:p>
          <a:p>
            <a:pPr>
              <a:defRPr sz="1800"/>
            </a:pPr>
            <a:r>
              <a:t>  3. Product Sales (16.95%) - Revenue per product</a:t>
            </a:r>
          </a:p>
          <a:p>
            <a:pPr>
              <a:defRPr sz="1800"/>
            </a:pPr>
            <a:r>
              <a:t>  4. Sales Trend (4.58%) - Momentum indicator</a:t>
            </a:r>
          </a:p>
          <a:p>
            <a:pPr>
              <a:defRPr sz="1800"/>
            </a:pPr>
            <a:r>
              <a:t>  5. Total Ad Spend (2.45%) - Marketing investment</a:t>
            </a:r>
          </a:p>
          <a:p>
            <a:pPr>
              <a:defRPr sz="1800"/>
            </a:pPr>
            <a:r>
              <a:t>  6. Has Promotion (1.89%) - Campaign activity</a:t>
            </a:r>
          </a:p>
          <a:p>
            <a:pPr>
              <a:defRPr sz="1800"/>
            </a:pPr>
            <a:r>
              <a:t>  7. Product-Buyer Ratio (1.47%)</a:t>
            </a:r>
          </a:p>
          <a:p>
            <a:pPr>
              <a:defRPr sz="1800"/>
            </a:pPr>
            <a:r>
              <a:t>  8. Voucher Cost (1.12%)</a:t>
            </a:r>
          </a:p>
          <a:p>
            <a:pPr>
              <a:defRPr sz="1800"/>
            </a:pPr>
            <a:r>
              <a:t>  9. Flash Sales (0.76%)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Key Insight: Product variety and customer base are primary drivers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Model #2: Adaptive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Self-Learning Forecasting System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Capability:</a:t>
            </a:r>
          </a:p>
          <a:p>
            <a:pPr>
              <a:defRPr sz="1800"/>
            </a:pPr>
            <a:r>
              <a:t>  ✅ Automatically retrains with new weekly data</a:t>
            </a:r>
          </a:p>
          <a:p>
            <a:pPr>
              <a:defRPr sz="1800"/>
            </a:pPr>
            <a:r>
              <a:t>  ✅ Learns from promotional campaign results</a:t>
            </a:r>
          </a:p>
          <a:p>
            <a:pPr>
              <a:defRPr sz="1800"/>
            </a:pPr>
            <a:r>
              <a:t>  ✅ Adapts to seasonal changes</a:t>
            </a:r>
          </a:p>
          <a:p>
            <a:pPr>
              <a:defRPr sz="1800"/>
            </a:pPr>
            <a:r>
              <a:t>  ✅ Version control and rollback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How It Works:</a:t>
            </a:r>
          </a:p>
          <a:p>
            <a:pPr>
              <a:defRPr sz="1800"/>
            </a:pPr>
            <a:r>
              <a:t>  1. New week data arrives (sales, voucher spend, etc.)</a:t>
            </a:r>
          </a:p>
          <a:p>
            <a:pPr>
              <a:defRPr sz="1800"/>
            </a:pPr>
            <a:r>
              <a:t>  2. Model retrains on expanded dataset</a:t>
            </a:r>
          </a:p>
          <a:p>
            <a:pPr>
              <a:defRPr sz="1800"/>
            </a:pPr>
            <a:r>
              <a:t>  3. Performance validated (85%+ accuracy threshold)</a:t>
            </a:r>
          </a:p>
          <a:p>
            <a:pPr>
              <a:defRPr sz="1800"/>
            </a:pPr>
            <a:r>
              <a:t>  4. Model updated if quality maintained</a:t>
            </a:r>
          </a:p>
          <a:p>
            <a:pPr>
              <a:defRPr sz="1800"/>
            </a:pPr>
            <a:r>
              <a:t>  5. Performance tracked over time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Innovation: Model improves continuously without manual intervention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Model #3: Spend Optimizer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Budget Allocation &amp; ROI Maximization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Capability:</a:t>
            </a:r>
          </a:p>
          <a:p>
            <a:pPr>
              <a:defRPr sz="1800"/>
            </a:pPr>
            <a:r>
              <a:t>  ✅ Test different promotional spend scenarios</a:t>
            </a:r>
          </a:p>
          <a:p>
            <a:pPr>
              <a:defRPr sz="1800"/>
            </a:pPr>
            <a:r>
              <a:t>  ✅ Predict sales, profit, and ROI for each scenario</a:t>
            </a:r>
          </a:p>
          <a:p>
            <a:pPr>
              <a:defRPr sz="1800"/>
            </a:pPr>
            <a:r>
              <a:t>  ✅ Compare multiple budget allocations</a:t>
            </a:r>
          </a:p>
          <a:p>
            <a:pPr>
              <a:defRPr sz="1800"/>
            </a:pPr>
            <a:r>
              <a:t>  ✅ AI-powered recommendations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Optimization Results:</a:t>
            </a:r>
          </a:p>
          <a:p>
            <a:pPr>
              <a:defRPr sz="1800"/>
            </a:pPr>
            <a:r>
              <a:t>  • Conservative: 4.2x ROI, IDR 22M profit</a:t>
            </a:r>
          </a:p>
          <a:p>
            <a:pPr>
              <a:defRPr sz="1800"/>
            </a:pPr>
            <a:r>
              <a:t>  • Balanced: 4.7x ROI, IDR 26M profit ⭐</a:t>
            </a:r>
          </a:p>
          <a:p>
            <a:pPr>
              <a:defRPr sz="1800"/>
            </a:pPr>
            <a:r>
              <a:t>  • Aggressive: 4.3x ROI, IDR 28M profit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Recommendation: Balanced allocation maximizes ROI efficiency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Interactive Dashboard: 17 Pages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Core Analytics:</a:t>
            </a:r>
          </a:p>
          <a:p>
            <a:pPr>
              <a:defRPr sz="1800"/>
            </a:pPr>
            <a:r>
              <a:t>  1. Overview - KPIs and trends</a:t>
            </a:r>
          </a:p>
          <a:p>
            <a:pPr>
              <a:defRPr sz="1800"/>
            </a:pPr>
            <a:r>
              <a:t>  2. Traffic Analysis - Visitor behavior</a:t>
            </a:r>
          </a:p>
          <a:p>
            <a:pPr>
              <a:defRPr sz="1800"/>
            </a:pPr>
            <a:r>
              <a:t>  3. Sales Performance - Revenue metrics</a:t>
            </a:r>
          </a:p>
          <a:p>
            <a:pPr>
              <a:defRPr sz="1800"/>
            </a:pPr>
            <a:r>
              <a:t>  4. Campaign Analytics - Promotional ROI</a:t>
            </a:r>
          </a:p>
          <a:p>
            <a:pPr>
              <a:defRPr sz="1800"/>
            </a:pPr>
            <a:r>
              <a:t>  5. Customer Service - CSAT, response times</a:t>
            </a:r>
          </a:p>
          <a:p>
            <a:pPr>
              <a:defRPr sz="1800"/>
            </a:pPr>
            <a:r>
              <a:t>  6. Product Recommendations - AI-powered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Advanced Features:</a:t>
            </a:r>
          </a:p>
          <a:p>
            <a:pPr>
              <a:defRPr sz="1800"/>
            </a:pPr>
            <a:r>
              <a:t>  7. Sales Forecast - 6-month predictions</a:t>
            </a:r>
          </a:p>
          <a:p>
            <a:pPr>
              <a:defRPr sz="1800"/>
            </a:pPr>
            <a:r>
              <a:t>  8. Customer Segments - RFM analysis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Innovation (NEW!):</a:t>
            </a:r>
          </a:p>
          <a:p>
            <a:pPr>
              <a:defRPr sz="1800"/>
            </a:pPr>
            <a:r>
              <a:t>  9. Adaptive Learning - Self-improving model</a:t>
            </a:r>
          </a:p>
          <a:p>
            <a:pPr>
              <a:defRPr sz="1800"/>
            </a:pPr>
            <a:r>
              <a:t>  10. Spend Optimizer - ROI maximization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Judge Questions - Answered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Q3a: Dashboard connected to Shopee API?</a:t>
            </a:r>
          </a:p>
          <a:p>
            <a:pPr>
              <a:defRPr sz="1800"/>
            </a:pPr>
            <a:r>
              <a:t>  • No, uses historical data for demo</a:t>
            </a:r>
          </a:p>
          <a:p>
            <a:pPr>
              <a:defRPr sz="1800"/>
            </a:pPr>
            <a:r>
              <a:t>  • Architecture ready for API integration</a:t>
            </a:r>
          </a:p>
          <a:p>
            <a:pPr>
              <a:defRPr sz="1800"/>
            </a:pPr>
            <a:r>
              <a:t>  • Have QA credentials for production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Q3b: Can it self-learn?</a:t>
            </a:r>
          </a:p>
          <a:p>
            <a:pPr>
              <a:defRPr sz="1800"/>
            </a:pPr>
            <a:r>
              <a:t>  ✅ YES! Adaptive Learning page demonstrates this</a:t>
            </a:r>
          </a:p>
          <a:p>
            <a:pPr>
              <a:defRPr sz="1800"/>
            </a:pPr>
            <a:r>
              <a:t>  • Automatically retrains with new weekly data</a:t>
            </a:r>
          </a:p>
          <a:p>
            <a:pPr>
              <a:defRPr sz="1800"/>
            </a:pPr>
            <a:r>
              <a:t>  • Version control and performance tracking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Q3c: Can it optimize spend?</a:t>
            </a:r>
          </a:p>
          <a:p>
            <a:pPr>
              <a:defRPr sz="1800"/>
            </a:pPr>
            <a:r>
              <a:t>  ✅ YES! Spend Optimizer page provides this</a:t>
            </a:r>
          </a:p>
          <a:p>
            <a:pPr>
              <a:defRPr sz="1800"/>
            </a:pPr>
            <a:r>
              <a:t>  • Test different budget scenarios</a:t>
            </a:r>
          </a:p>
          <a:p>
            <a:pPr>
              <a:defRPr sz="1800"/>
            </a:pPr>
            <a:r>
              <a:t>  • AI-powered recommendations for ROI maximization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Data Layer:</a:t>
            </a:r>
          </a:p>
          <a:p>
            <a:pPr>
              <a:defRPr sz="1800"/>
            </a:pPr>
            <a:r>
              <a:t>  • CSV ingestion and automated cleaning</a:t>
            </a:r>
          </a:p>
          <a:p>
            <a:pPr>
              <a:defRPr sz="1800"/>
            </a:pPr>
            <a:r>
              <a:t>  • Weekly aggregation for forecasting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Model Layer:</a:t>
            </a:r>
          </a:p>
          <a:p>
            <a:pPr>
              <a:defRPr sz="1800"/>
            </a:pPr>
            <a:r>
              <a:t>  • XGBoost forecaster (89.18% accuracy)</a:t>
            </a:r>
          </a:p>
          <a:p>
            <a:pPr>
              <a:defRPr sz="1800"/>
            </a:pPr>
            <a:r>
              <a:t>  • Adaptive learning system</a:t>
            </a:r>
          </a:p>
          <a:p>
            <a:pPr>
              <a:defRPr sz="1800"/>
            </a:pPr>
            <a:r>
              <a:t>  • Spend optimization engine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Presentation Layer:</a:t>
            </a:r>
          </a:p>
          <a:p>
            <a:pPr>
              <a:defRPr sz="1800"/>
            </a:pPr>
            <a:r>
              <a:t>  • Streamlit dashboard (17 pages)</a:t>
            </a:r>
          </a:p>
          <a:p>
            <a:pPr>
              <a:defRPr sz="1800"/>
            </a:pPr>
            <a:r>
              <a:t>  • Interactive Plotly visualizations</a:t>
            </a:r>
          </a:p>
          <a:p>
            <a:pPr>
              <a:defRPr sz="1800"/>
            </a:pPr>
            <a:r>
              <a:t>  • Real-time predictions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Deployment:</a:t>
            </a:r>
          </a:p>
          <a:p>
            <a:pPr>
              <a:defRPr sz="1800"/>
            </a:pPr>
            <a:r>
              <a:t>  • GitHub: github.com/taranggoyal70/nazava-analytics</a:t>
            </a:r>
          </a:p>
          <a:p>
            <a:pPr>
              <a:defRPr sz="1800"/>
            </a:pPr>
            <a:r>
              <a:t>  • Cloud-ready architecture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 &amp;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Operational Efficiency:</a:t>
            </a:r>
          </a:p>
          <a:p>
            <a:pPr>
              <a:defRPr sz="1800"/>
            </a:pPr>
            <a:r>
              <a:t>  ✅ 40% reduction in forecasting error vs. baseline</a:t>
            </a:r>
          </a:p>
          <a:p>
            <a:pPr>
              <a:defRPr sz="1800"/>
            </a:pPr>
            <a:r>
              <a:t>  ✅ Automated weekly reporting (saves 10+ hours/week)</a:t>
            </a:r>
          </a:p>
          <a:p>
            <a:pPr>
              <a:defRPr sz="1800"/>
            </a:pPr>
            <a:r>
              <a:t>  ✅ Real-time campaign performance tracking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Revenue Optimization:</a:t>
            </a:r>
          </a:p>
          <a:p>
            <a:pPr>
              <a:defRPr sz="1800"/>
            </a:pPr>
            <a:r>
              <a:t>  ✅ Identify optimal promotional spend (4.7x ROI)</a:t>
            </a:r>
          </a:p>
          <a:p>
            <a:pPr>
              <a:defRPr sz="1800"/>
            </a:pPr>
            <a:r>
              <a:t>  ✅ Predict sales 6 months ahead (89% accuracy)</a:t>
            </a:r>
          </a:p>
          <a:p>
            <a:pPr>
              <a:defRPr sz="1800"/>
            </a:pPr>
            <a:r>
              <a:t>  ✅ Reduce inventory waste through better planning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Strategic Insights:</a:t>
            </a:r>
          </a:p>
          <a:p>
            <a:pPr>
              <a:defRPr sz="1800"/>
            </a:pPr>
            <a:r>
              <a:t>  ✅ Understand key sales drivers</a:t>
            </a:r>
          </a:p>
          <a:p>
            <a:pPr>
              <a:defRPr sz="1800"/>
            </a:pPr>
            <a:r>
              <a:t>  ✅ Optimize marketing budget allocation</a:t>
            </a:r>
          </a:p>
          <a:p>
            <a:pPr>
              <a:defRPr sz="1800"/>
            </a:pPr>
            <a:r>
              <a:t>  ✅ Data-driven decision making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Makes This Unique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1. Adaptive Learning:</a:t>
            </a:r>
          </a:p>
          <a:p>
            <a:pPr>
              <a:defRPr sz="1800"/>
            </a:pPr>
            <a:r>
              <a:t>   • First Shopee analytics platform with self-learning AI</a:t>
            </a:r>
          </a:p>
          <a:p>
            <a:pPr>
              <a:defRPr sz="1800"/>
            </a:pPr>
            <a:r>
              <a:t>   • Model improves automatically with new data</a:t>
            </a:r>
          </a:p>
          <a:p>
            <a:pPr>
              <a:defRPr sz="1800"/>
            </a:pPr>
            <a:r>
              <a:t>   • No manual retraining required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2. Spend Optimization:</a:t>
            </a:r>
          </a:p>
          <a:p>
            <a:pPr>
              <a:defRPr sz="1800"/>
            </a:pPr>
            <a:r>
              <a:t>   • Interactive budget allocation tool</a:t>
            </a:r>
          </a:p>
          <a:p>
            <a:pPr>
              <a:defRPr sz="1800"/>
            </a:pPr>
            <a:r>
              <a:t>   • Real-time ROI predictions</a:t>
            </a:r>
          </a:p>
          <a:p>
            <a:pPr>
              <a:defRPr sz="1800"/>
            </a:pPr>
            <a:r>
              <a:t>   • Scenario analysis for decision support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3. Comprehensive Integration:</a:t>
            </a:r>
          </a:p>
          <a:p>
            <a:pPr>
              <a:defRPr sz="1800"/>
            </a:pPr>
            <a:r>
              <a:t>   • 12 data sources unified</a:t>
            </a:r>
          </a:p>
          <a:p>
            <a:pPr>
              <a:defRPr sz="1800"/>
            </a:pPr>
            <a:r>
              <a:t>   • 25+ engineered features</a:t>
            </a:r>
          </a:p>
          <a:p>
            <a:pPr>
              <a:defRPr sz="1800"/>
            </a:pPr>
            <a:r>
              <a:t>   • End-to-end analytics pipeline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4. Production-Ready:</a:t>
            </a:r>
          </a:p>
          <a:p>
            <a:pPr>
              <a:defRPr sz="1800"/>
            </a:pPr>
            <a:r>
              <a:t>   • Deployed dashboard, GitHub repository, Complete documentation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Built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✅ Data Pipeline:</a:t>
            </a:r>
          </a:p>
          <a:p>
            <a:pPr>
              <a:defRPr sz="1800"/>
            </a:pPr>
            <a:r>
              <a:t>   • 12 cleaned datasets, 58 weeks of data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✅ AI Models:</a:t>
            </a:r>
          </a:p>
          <a:p>
            <a:pPr>
              <a:defRPr sz="1800"/>
            </a:pPr>
            <a:r>
              <a:t>   • Sales forecasting (89.18% accuracy)</a:t>
            </a:r>
          </a:p>
          <a:p>
            <a:pPr>
              <a:defRPr sz="1800"/>
            </a:pPr>
            <a:r>
              <a:t>   • Adaptive learning system</a:t>
            </a:r>
          </a:p>
          <a:p>
            <a:pPr>
              <a:defRPr sz="1800"/>
            </a:pPr>
            <a:r>
              <a:t>   • Spend optimizer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✅ Dashboard:</a:t>
            </a:r>
          </a:p>
          <a:p>
            <a:pPr>
              <a:defRPr sz="1800"/>
            </a:pPr>
            <a:r>
              <a:t>   • 17 interactive pages</a:t>
            </a:r>
          </a:p>
          <a:p>
            <a:pPr>
              <a:defRPr sz="1800"/>
            </a:pPr>
            <a:r>
              <a:t>   • Real-time analytics</a:t>
            </a:r>
          </a:p>
          <a:p>
            <a:pPr>
              <a:defRPr sz="1800"/>
            </a:pPr>
            <a:r>
              <a:t>   • Production-ready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✅ Documentation:</a:t>
            </a:r>
          </a:p>
          <a:p>
            <a:pPr>
              <a:defRPr sz="1800"/>
            </a:pPr>
            <a:r>
              <a:t>   • README, SETUP guides, Jupyter notebooks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✅ Deployment:</a:t>
            </a:r>
          </a:p>
          <a:p>
            <a:pPr>
              <a:defRPr sz="1800"/>
            </a:pPr>
            <a:r>
              <a:t>   • GitHub repository, Sample data included, One-command setup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Dashboard Access:</a:t>
            </a:r>
          </a:p>
          <a:p>
            <a:pPr>
              <a:defRPr sz="1800"/>
            </a:pPr>
            <a:r>
              <a:t>  • URL: http://localhost:8501</a:t>
            </a:r>
          </a:p>
          <a:p>
            <a:pPr>
              <a:defRPr sz="1800"/>
            </a:pPr>
            <a:r>
              <a:t>  • Login: admin / admin123</a:t>
            </a:r>
          </a:p>
          <a:p>
            <a:pPr>
              <a:defRPr sz="1800"/>
            </a:pPr>
            <a:r>
              <a:t>  • GitHub: github.com/taranggoyal70/nazava-analytics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Demo Flow:</a:t>
            </a:r>
          </a:p>
          <a:p>
            <a:pPr>
              <a:defRPr sz="1800"/>
            </a:pPr>
            <a:r>
              <a:t>  1. Overview - Show KPIs and trends</a:t>
            </a:r>
          </a:p>
          <a:p>
            <a:pPr>
              <a:defRPr sz="1800"/>
            </a:pPr>
            <a:r>
              <a:t>  2. Sales Forecast - 6-month prediction</a:t>
            </a:r>
          </a:p>
          <a:p>
            <a:pPr>
              <a:defRPr sz="1800"/>
            </a:pPr>
            <a:r>
              <a:t>  3. Adaptive Learning - Add new data, retrain model</a:t>
            </a:r>
          </a:p>
          <a:p>
            <a:pPr>
              <a:defRPr sz="1800"/>
            </a:pPr>
            <a:r>
              <a:t>  4. Spend Optimizer - Test budget scenarios</a:t>
            </a:r>
          </a:p>
          <a:p>
            <a:pPr>
              <a:defRPr sz="1800"/>
            </a:pPr>
            <a:r>
              <a:t>  5. Campaign Analytics - ROI analysis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Try It Yourself:</a:t>
            </a:r>
          </a:p>
          <a:p>
            <a:pPr>
              <a:defRPr sz="1800"/>
            </a:pPr>
            <a:r>
              <a:t>  git clone https://github.com/taranggoyal70/nazava-analytics</a:t>
            </a:r>
          </a:p>
          <a:p>
            <a:pPr>
              <a:defRPr sz="1800"/>
            </a:pPr>
            <a:r>
              <a:t>  cd nazava-analytics/dashboard</a:t>
            </a:r>
          </a:p>
          <a:p>
            <a:pPr>
              <a:defRPr sz="1800"/>
            </a:pPr>
            <a:r>
              <a:t>  streamlit run app.py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Problem:</a:t>
            </a:r>
          </a:p>
          <a:p>
            <a:pPr>
              <a:defRPr sz="1800"/>
            </a:pPr>
            <a:r>
              <a:t>  • Shopee sellers lack unified analytics and forecasting tools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Solution:</a:t>
            </a:r>
          </a:p>
          <a:p>
            <a:pPr>
              <a:defRPr sz="1800"/>
            </a:pPr>
            <a:r>
              <a:t>  • Nazava Analytics Platform with AI-powered insights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Results:</a:t>
            </a:r>
          </a:p>
          <a:p>
            <a:pPr>
              <a:defRPr sz="1800"/>
            </a:pPr>
            <a:r>
              <a:t>  • 89.18% forecasting accuracy</a:t>
            </a:r>
          </a:p>
          <a:p>
            <a:pPr>
              <a:defRPr sz="1800"/>
            </a:pPr>
            <a:r>
              <a:t>  • 4.7x optimal ROI identified</a:t>
            </a:r>
          </a:p>
          <a:p>
            <a:pPr>
              <a:defRPr sz="1800"/>
            </a:pPr>
            <a:r>
              <a:t>  • Self-learning model capability</a:t>
            </a:r>
          </a:p>
          <a:p>
            <a:pPr>
              <a:defRPr sz="1800"/>
            </a:pPr>
            <a:r>
              <a:t>  • 17-page interactive dashboard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Impact:</a:t>
            </a:r>
          </a:p>
          <a:p>
            <a:pPr>
              <a:defRPr sz="1800"/>
            </a:pPr>
            <a:r>
              <a:t>  • Better inventory planning</a:t>
            </a:r>
          </a:p>
          <a:p>
            <a:pPr>
              <a:defRPr sz="1800"/>
            </a:pPr>
            <a:r>
              <a:t>  • Optimized marketing spend</a:t>
            </a:r>
          </a:p>
          <a:p>
            <a:pPr>
              <a:defRPr sz="1800"/>
            </a:pPr>
            <a:r>
              <a:t>  • Data-driven decisions</a:t>
            </a:r>
          </a:p>
          <a:p>
            <a:pPr>
              <a:defRPr sz="1800"/>
            </a:pPr>
            <a:r>
              <a:t>  • Increased profitability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Questions?</a:t>
            </a:r>
          </a:p>
          <a:p/>
          <a:p>
            <a:r>
              <a:t>GitHub: github.com/taranggoyal70/nazava-analytics</a:t>
            </a:r>
          </a:p>
          <a:p>
            <a:r>
              <a:t>Dashboard: http://localhost:8501</a:t>
            </a:r>
          </a:p>
          <a:p>
            <a:r>
              <a:t>Login: admin / admin123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